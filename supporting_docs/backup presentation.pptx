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73"/>
  </p:normalViewPr>
  <p:slideViewPr>
    <p:cSldViewPr snapToGrid="0">
      <p:cViewPr>
        <p:scale>
          <a:sx n="319" d="100"/>
          <a:sy n="319" d="100"/>
        </p:scale>
        <p:origin x="-8080" y="-3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ADC-21D0-CF95-826C-9816A514FC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E0019B-B684-FAEE-1FDD-1A54E3A59D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A2CC8C-6B6C-79FD-5FCA-6C4E18BF019A}"/>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13B22FAE-A509-2D29-C8D7-F0F73669A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94822-A283-DF1F-5977-5C8691820C65}"/>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3241334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C30B-9F26-600E-40CB-06E326000A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4EA1DE-FEA3-A07E-D334-9767313A68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BBE7D-D18A-A43C-88E7-270AEA5B9E1F}"/>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FC120ADE-5C49-954B-7E01-12ECFA0ADA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48E77-F126-BB47-4744-A79681A02465}"/>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366210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F37F-5EC1-C293-B1C9-067660535B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803D60-C79F-2210-B1D9-0A82A72C27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7A34DF-4A69-4A95-27E1-DF924D1CB810}"/>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96835CA9-25EF-74E9-FFAD-2D08DE0D3A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749E3-8973-C3A8-8391-66F7A4D1ACAE}"/>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249554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B4F6-84A9-94CF-8F6B-B43F8AC776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CB0914-3BB6-5668-4FE8-AC9D6743A5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CE96F1-2F78-6573-DAAD-68086F1109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C1ACFB-7C1B-85BB-5865-DC8485CB5381}"/>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6" name="Footer Placeholder 5">
            <a:extLst>
              <a:ext uri="{FF2B5EF4-FFF2-40B4-BE49-F238E27FC236}">
                <a16:creationId xmlns:a16="http://schemas.microsoft.com/office/drawing/2014/main" id="{AF5DB870-094D-8062-830F-1B3604DEF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52E204-8339-6A04-DBEB-92DECAD198CE}"/>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3609228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6142-12A9-27CB-1F50-B418B2155B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868098-4055-1AD0-0A90-154E00350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40F17B-82EA-1E12-60E6-ACE83789E6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437C09-B7E3-FA41-B309-556FCB36D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40C3DD-EFB6-473A-8F9E-27AACC092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4461F5-E3C3-1B69-3D21-BFFDA1A1F254}"/>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8" name="Footer Placeholder 7">
            <a:extLst>
              <a:ext uri="{FF2B5EF4-FFF2-40B4-BE49-F238E27FC236}">
                <a16:creationId xmlns:a16="http://schemas.microsoft.com/office/drawing/2014/main" id="{4F77B59B-C4E4-98C1-1832-55B054D8E8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7D8851-C758-A857-5754-E32B78097FF9}"/>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3109857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BEB8-FB28-787B-CA95-C23AB8A933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975039-B619-4EAB-0A70-46210F2BAF1A}"/>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4" name="Footer Placeholder 3">
            <a:extLst>
              <a:ext uri="{FF2B5EF4-FFF2-40B4-BE49-F238E27FC236}">
                <a16:creationId xmlns:a16="http://schemas.microsoft.com/office/drawing/2014/main" id="{2CD3FEE1-D6C1-FEF2-7323-018ED28336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1CF980-CFED-0090-72EF-823C95B7C61A}"/>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18115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93F82A-993B-833D-2DAF-BA430DE6AE42}"/>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3" name="Footer Placeholder 2">
            <a:extLst>
              <a:ext uri="{FF2B5EF4-FFF2-40B4-BE49-F238E27FC236}">
                <a16:creationId xmlns:a16="http://schemas.microsoft.com/office/drawing/2014/main" id="{99C191E6-A452-B537-6024-0B956FA5C2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53766F-3CC6-5A83-F636-E9BAED7BDDA9}"/>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161667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FECD-05CA-CA60-BD7F-296DA96A60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A9E2F-7FF7-256E-2303-D6E72C74F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EF65F8-0CD3-12D5-8FB7-BD5769F4F1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441DB3-FDF8-E918-6C20-29147A5F0805}"/>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6" name="Footer Placeholder 5">
            <a:extLst>
              <a:ext uri="{FF2B5EF4-FFF2-40B4-BE49-F238E27FC236}">
                <a16:creationId xmlns:a16="http://schemas.microsoft.com/office/drawing/2014/main" id="{6A48E9EE-C848-F41E-1DCB-73C973337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140ABC-AF44-F155-E054-2B04F075A750}"/>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449089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17C4-FDF0-05B3-36C0-4B95DED36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CFADE6-4133-7C94-52E7-5D973FEFB9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76A428-F083-F0A5-B3FC-E3D31FC28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6358B-BDDC-705D-48D8-CAE8A5ADA35A}"/>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6" name="Footer Placeholder 5">
            <a:extLst>
              <a:ext uri="{FF2B5EF4-FFF2-40B4-BE49-F238E27FC236}">
                <a16:creationId xmlns:a16="http://schemas.microsoft.com/office/drawing/2014/main" id="{5C815E8A-5B7F-66B3-FFF2-D9F8B0F45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4100B7-D9C1-C1B8-95FA-C6D5D9A49F87}"/>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3492880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684E-D702-9BA1-9568-22F0423EB1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DBC058-01DA-834A-9A60-0A47F4501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B77D4B-6605-5E57-EB7F-A9DC82FEA7E0}"/>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73D176DD-0DA0-965E-C472-DA4DE52D0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AA092-DCD7-F03E-3B75-885FB25E0010}"/>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2304432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63EFB5-9113-D92D-8860-A8E659A439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1D0217-8D89-ADEA-CF59-EDD53DCB4C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FD85F-15F8-5871-8038-ADF121F5BE69}"/>
              </a:ext>
            </a:extLst>
          </p:cNvPr>
          <p:cNvSpPr>
            <a:spLocks noGrp="1"/>
          </p:cNvSpPr>
          <p:nvPr>
            <p:ph type="dt" sz="half" idx="10"/>
          </p:nvPr>
        </p:nvSpPr>
        <p:spPr/>
        <p:txBody>
          <a:body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753207BD-A117-8DBD-FAC7-F856BCB532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39BA95-4D08-0F84-A821-72727FF28B0C}"/>
              </a:ext>
            </a:extLst>
          </p:cNvPr>
          <p:cNvSpPr>
            <a:spLocks noGrp="1"/>
          </p:cNvSpPr>
          <p:nvPr>
            <p:ph type="sldNum" sz="quarter" idx="12"/>
          </p:nvPr>
        </p:nvSpPr>
        <p:spPr/>
        <p:txBody>
          <a:bodyPr/>
          <a:lstStyle/>
          <a:p>
            <a:fld id="{F3801B79-0A01-6140-969D-CD5133748EA5}" type="slidenum">
              <a:rPr lang="en-US" smtClean="0"/>
              <a:t>‹#›</a:t>
            </a:fld>
            <a:endParaRPr lang="en-US"/>
          </a:p>
        </p:txBody>
      </p:sp>
    </p:spTree>
    <p:extLst>
      <p:ext uri="{BB962C8B-B14F-4D97-AF65-F5344CB8AC3E}">
        <p14:creationId xmlns:p14="http://schemas.microsoft.com/office/powerpoint/2010/main" val="2072294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3EA12F-0867-E3BA-A1E3-F0472BC7C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660341-1F7B-5DA7-6377-33A9924C8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0035A-7EC6-7FB3-AB66-8800C4F492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57015C-6CEF-904F-BADD-F5C7FDC7E163}" type="datetimeFigureOut">
              <a:rPr lang="en-US" smtClean="0"/>
              <a:t>4/14/26</a:t>
            </a:fld>
            <a:endParaRPr lang="en-US"/>
          </a:p>
        </p:txBody>
      </p:sp>
      <p:sp>
        <p:nvSpPr>
          <p:cNvPr id="5" name="Footer Placeholder 4">
            <a:extLst>
              <a:ext uri="{FF2B5EF4-FFF2-40B4-BE49-F238E27FC236}">
                <a16:creationId xmlns:a16="http://schemas.microsoft.com/office/drawing/2014/main" id="{3BF05F67-F4FE-CF31-F8EF-8E50C9FE2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ECBD7-B5DA-7F24-D013-C1136E6825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801B79-0A01-6140-969D-CD5133748EA5}" type="slidenum">
              <a:rPr lang="en-US" smtClean="0"/>
              <a:t>‹#›</a:t>
            </a:fld>
            <a:endParaRPr lang="en-US"/>
          </a:p>
        </p:txBody>
      </p:sp>
    </p:spTree>
    <p:extLst>
      <p:ext uri="{BB962C8B-B14F-4D97-AF65-F5344CB8AC3E}">
        <p14:creationId xmlns:p14="http://schemas.microsoft.com/office/powerpoint/2010/main" val="3912584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4DF83C-0975-7BCB-3129-9CB7FB234956}"/>
              </a:ext>
            </a:extLst>
          </p:cNvPr>
          <p:cNvPicPr>
            <a:picLocks noChangeAspect="1"/>
          </p:cNvPicPr>
          <p:nvPr/>
        </p:nvPicPr>
        <p:blipFill>
          <a:blip r:embed="rId2"/>
          <a:stretch>
            <a:fillRect/>
          </a:stretch>
        </p:blipFill>
        <p:spPr>
          <a:xfrm>
            <a:off x="380238" y="458027"/>
            <a:ext cx="11431524" cy="5686044"/>
          </a:xfrm>
          <a:prstGeom prst="rect">
            <a:avLst/>
          </a:prstGeom>
        </p:spPr>
      </p:pic>
    </p:spTree>
    <p:extLst>
      <p:ext uri="{BB962C8B-B14F-4D97-AF65-F5344CB8AC3E}">
        <p14:creationId xmlns:p14="http://schemas.microsoft.com/office/powerpoint/2010/main" val="4106541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74BF46-092B-53D0-7836-8E1BF8B76149}"/>
              </a:ext>
            </a:extLst>
          </p:cNvPr>
          <p:cNvSpPr txBox="1"/>
          <p:nvPr/>
        </p:nvSpPr>
        <p:spPr>
          <a:xfrm>
            <a:off x="642551" y="617838"/>
            <a:ext cx="10960444" cy="29731216"/>
          </a:xfrm>
          <a:prstGeom prst="rect">
            <a:avLst/>
          </a:prstGeom>
          <a:noFill/>
        </p:spPr>
        <p:txBody>
          <a:bodyPr wrap="square" rtlCol="0">
            <a:spAutoFit/>
          </a:bodyPr>
          <a:lstStyle/>
          <a:p>
            <a:r>
              <a:rPr lang="en-US" dirty="0"/>
              <a:t>&gt; Entering new </a:t>
            </a:r>
            <a:r>
              <a:rPr lang="en-US" dirty="0" err="1"/>
              <a:t>AgentExecutor</a:t>
            </a:r>
            <a:r>
              <a:rPr lang="en-US" dirty="0"/>
              <a:t> chain...</a:t>
            </a:r>
          </a:p>
          <a:p>
            <a:r>
              <a:rPr lang="en-US" dirty="0"/>
              <a:t>Thought: I need to find research on vaccine hesitancy in influenza campaigns linked to COVID-19 hesitancy.  </a:t>
            </a:r>
          </a:p>
          <a:p>
            <a:r>
              <a:rPr lang="en-US" dirty="0"/>
              <a:t>Action: </a:t>
            </a:r>
            <a:r>
              <a:rPr lang="en-US" dirty="0" err="1"/>
              <a:t>search_pubmed</a:t>
            </a:r>
            <a:r>
              <a:rPr lang="en-US" dirty="0"/>
              <a:t>  </a:t>
            </a:r>
          </a:p>
          <a:p>
            <a:r>
              <a:rPr lang="en-US" dirty="0"/>
              <a:t>Action Input: "vaccine hesitancy influenza campaigns COVID-19"  {'41912947': [{'title': 'Correlates of COVID-19 Vaccine Regret in the United States.', 'PMID': '41912947', '</a:t>
            </a:r>
            <a:r>
              <a:rPr lang="en-US" dirty="0" err="1"/>
              <a:t>doi</a:t>
            </a:r>
            <a:r>
              <a:rPr lang="en-US" dirty="0"/>
              <a:t>': '10.1007/s11606-026-10374-x', 'authors': ['Bayar MC', 'Artman H', 'Enders A', 'Kahveci I', '</a:t>
            </a:r>
            <a:r>
              <a:rPr lang="en-US" dirty="0" err="1"/>
              <a:t>Klofstad</a:t>
            </a:r>
            <a:r>
              <a:rPr lang="en-US" dirty="0"/>
              <a:t> C', '</a:t>
            </a:r>
            <a:r>
              <a:rPr lang="en-US" dirty="0" err="1"/>
              <a:t>Krekó</a:t>
            </a:r>
            <a:r>
              <a:rPr lang="en-US" dirty="0"/>
              <a:t> P', 'Stoler J', 'Touchton M', 'Uscinski J']}], '41840357': [{'title': 'The Impact of Social Media Addiction on Vaccine Hesitancy Among Nursing Students: Testing an Empirical Model.', 'PMID': '41840357', '</a:t>
            </a:r>
            <a:r>
              <a:rPr lang="en-US" dirty="0" err="1"/>
              <a:t>doi</a:t>
            </a:r>
            <a:r>
              <a:rPr lang="en-US" dirty="0"/>
              <a:t>': '10.1002/nop2.70460', 'authors': ['Nichol B', 'Erfani G', 'McCready J', 'Gordon C', 'Unsworth J', 'Croston M', '</a:t>
            </a:r>
            <a:r>
              <a:rPr lang="en-US" dirty="0" err="1"/>
              <a:t>Comparcini</a:t>
            </a:r>
            <a:r>
              <a:rPr lang="en-US" dirty="0"/>
              <a:t> D', 'Simonetti V', '</a:t>
            </a:r>
            <a:r>
              <a:rPr lang="en-US" dirty="0" err="1"/>
              <a:t>Cicolini</a:t>
            </a:r>
            <a:r>
              <a:rPr lang="en-US" dirty="0"/>
              <a:t> G', 'Mikkonen K', 'Keisala J', '</a:t>
            </a:r>
            <a:r>
              <a:rPr lang="en-US" dirty="0" err="1"/>
              <a:t>Tomietto</a:t>
            </a:r>
            <a:r>
              <a:rPr lang="en-US" dirty="0"/>
              <a:t> M']}], '41426685': [{'title': 'Influenza vaccination in Austria from 1982 to 2023-Decades of consistent ignorance and refusal.', 'PMID': '41426685', '</a:t>
            </a:r>
            <a:r>
              <a:rPr lang="en-US" dirty="0" err="1"/>
              <a:t>doi</a:t>
            </a:r>
            <a:r>
              <a:rPr lang="en-US" dirty="0"/>
              <a:t>': '10.3389/fpubh.2025.1692437', 'authors': ['Kunze U', 'Felsinger R', 'Groman E']}], '41356096': [{'title': 'Immunization and Cardiovascular Disease in Latin America. The </a:t>
            </a:r>
            <a:r>
              <a:rPr lang="en-US" dirty="0" err="1"/>
              <a:t>CorVacc</a:t>
            </a:r>
            <a:r>
              <a:rPr lang="en-US" dirty="0"/>
              <a:t> Study: Results.', 'PMID': '41356096', '</a:t>
            </a:r>
            <a:r>
              <a:rPr lang="en-US" dirty="0" err="1"/>
              <a:t>doi</a:t>
            </a:r>
            <a:r>
              <a:rPr lang="en-US" dirty="0"/>
              <a:t>': '10.5334/gh.1496', 'authors': ['Wyss F', 'Lopez-Santi R', 'Piskorz D', 'Gonzalez HM', 'Gutierrez LY', 'Gupta S', 'Munera-Echeverri A', 'Santi PL', 'Piskorz G', 'Ullauri V', 'Gomez JE', 'Del Sueldo M', 'Almonte C', 'Mendez M', 'Valdez O', 'Ponte-</a:t>
            </a:r>
            <a:r>
              <a:rPr lang="en-US" dirty="0" err="1"/>
              <a:t>Negretti</a:t>
            </a:r>
            <a:r>
              <a:rPr lang="en-US" dirty="0"/>
              <a:t> CI', 'Rivera MAM', 'Rivera IR', 'Barragan AP', 'Villar R', 'Effio J', 'Pineda JAR', 'Berrospi P', 'Barrientos AI', 'Silvera N', 'Jordan E', 'Lopez SAX', 'Quezada D', 'Arguello A', 'Perez G', '</a:t>
            </a:r>
            <a:r>
              <a:rPr lang="en-US" dirty="0" err="1"/>
              <a:t>Baranchuk</a:t>
            </a:r>
            <a:r>
              <a:rPr lang="en-US" dirty="0"/>
              <a:t> A', '</a:t>
            </a:r>
            <a:r>
              <a:rPr lang="en-US" dirty="0" err="1"/>
              <a:t>Corvacc</a:t>
            </a:r>
            <a:r>
              <a:rPr lang="en-US" dirty="0"/>
              <a:t> Study Investigators']}], '41012167': [{'title': 'Strategies to Increase Vaccinations in Adult Cancer Patients: A Systematic Review.', 'PMID': '41012167', '</a:t>
            </a:r>
            <a:r>
              <a:rPr lang="en-US" dirty="0" err="1"/>
              <a:t>doi</a:t>
            </a:r>
            <a:r>
              <a:rPr lang="en-US" dirty="0"/>
              <a:t>': '10.3390/vaccines13090964', 'authors': ['Lo Moro G', '</a:t>
            </a:r>
            <a:r>
              <a:rPr lang="en-US" dirty="0" err="1"/>
              <a:t>Golzio</a:t>
            </a:r>
            <a:r>
              <a:rPr lang="en-US" dirty="0"/>
              <a:t> F', 'Calabrese SC', '</a:t>
            </a:r>
            <a:r>
              <a:rPr lang="en-US" dirty="0" err="1"/>
              <a:t>Scaioli</a:t>
            </a:r>
            <a:r>
              <a:rPr lang="en-US" dirty="0"/>
              <a:t> G', 'Basile A', '</a:t>
            </a:r>
            <a:r>
              <a:rPr lang="en-US" dirty="0" err="1"/>
              <a:t>Siliquini</a:t>
            </a:r>
            <a:r>
              <a:rPr lang="en-US" dirty="0"/>
              <a:t> R', 'Bert F']}]}Thought: I need to retrieve the most relevant papers to understand the link between COVID-19 vaccine hesitancy and influenza campaign hesitancy.  </a:t>
            </a:r>
          </a:p>
          <a:p>
            <a:r>
              <a:rPr lang="en-US" dirty="0"/>
              <a:t>Action: </a:t>
            </a:r>
            <a:r>
              <a:rPr lang="en-US" dirty="0" err="1"/>
              <a:t>read_pdf</a:t>
            </a:r>
            <a:r>
              <a:rPr lang="en-US" dirty="0"/>
              <a:t>  </a:t>
            </a:r>
          </a:p>
          <a:p>
            <a:r>
              <a:rPr lang="en-US" dirty="0"/>
              <a:t>Action Input: {'</a:t>
            </a:r>
            <a:r>
              <a:rPr lang="en-US" dirty="0" err="1"/>
              <a:t>pmid</a:t>
            </a:r>
            <a:r>
              <a:rPr lang="en-US" dirty="0"/>
              <a:t>': '41912947'}  [</a:t>
            </a:r>
            <a:r>
              <a:rPr lang="en-US" dirty="0" err="1"/>
              <a:t>PyPaperRetriever</a:t>
            </a:r>
            <a:r>
              <a:rPr lang="en-US" dirty="0"/>
              <a:t>] Found Open-Access PDF link(s). Attempting download...</a:t>
            </a:r>
          </a:p>
          <a:p>
            <a:r>
              <a:rPr lang="en-US" dirty="0"/>
              <a:t>[</a:t>
            </a:r>
            <a:r>
              <a:rPr lang="en-US" dirty="0" err="1"/>
              <a:t>PyPaperRetriever</a:t>
            </a:r>
            <a:r>
              <a:rPr lang="en-US" dirty="0"/>
              <a:t>] PDF downloaded successfully to /Users/</a:t>
            </a:r>
            <a:r>
              <a:rPr lang="en-US" dirty="0" err="1"/>
              <a:t>micktwohig</a:t>
            </a:r>
            <a:r>
              <a:rPr lang="en-US" dirty="0"/>
              <a:t>/Library/</a:t>
            </a:r>
            <a:r>
              <a:rPr lang="en-US" dirty="0" err="1"/>
              <a:t>CloudStorage</a:t>
            </a:r>
            <a:r>
              <a:rPr lang="en-US" dirty="0"/>
              <a:t>/Dropbox/Stevens/810WZ/BIA810-Special-topics-in-gen-AI/</a:t>
            </a:r>
            <a:r>
              <a:rPr lang="en-US" dirty="0" err="1"/>
              <a:t>src</a:t>
            </a:r>
            <a:r>
              <a:rPr lang="en-US" dirty="0"/>
              <a:t>/PDF/2026-04-14-20_29_31_G7WDP31R.pdf for 10.1007/s11606-026-10374-x from https://</a:t>
            </a:r>
            <a:r>
              <a:rPr lang="en-US" dirty="0" err="1"/>
              <a:t>link.springer.com</a:t>
            </a:r>
            <a:r>
              <a:rPr lang="en-US" dirty="0"/>
              <a:t>/content/pdf/10.1007/s11606-026-10374-x.pdf</a:t>
            </a:r>
          </a:p>
          <a:p>
            <a:r>
              <a:rPr lang="en-US" dirty="0"/>
              <a:t>**Summary of "Correlates of COVID-19 Vaccine Regret in the United States"**  </a:t>
            </a:r>
          </a:p>
          <a:p>
            <a:endParaRPr lang="en-US" dirty="0"/>
          </a:p>
          <a:p>
            <a:r>
              <a:rPr lang="en-US" dirty="0"/>
              <a:t>This study investigates the prevalence and correlates of **vaccine regret** among individuals who received the COVID-19 vaccine in the U.S., with implications for understanding hesitancy in subsequent influenza campaigns. Using two national surveys (n = 3,490), the researchers measured vaccine regret through a three-item index (VRI) and analyzed its associations with health-related attitudes, behaviors, and political views. Key findings include:  </a:t>
            </a:r>
          </a:p>
          <a:p>
            <a:endParaRPr lang="en-US" dirty="0"/>
          </a:p>
          <a:p>
            <a:r>
              <a:rPr lang="en-US" dirty="0"/>
              <a:t>- **15% of vaccinated individuals** (n = 209) reported regret, consistent across surveys. Regret was negatively correlated with future vaccination intentions (e.g., 23% of regretful individuals planned to receive boosters vs. 52% of non-regretful respondents) and trust in public health institutions.  </a:t>
            </a:r>
          </a:p>
          <a:p>
            <a:r>
              <a:rPr lang="en-US" dirty="0"/>
              <a:t>- Regret was positively linked to **anti-vaccine attitudes**, including support for anti-vaccine politicians (e.g., Robert F. Kennedy Jr., Donald Trump), belief in health-related conspiracy theories (e.g., “vaccine dangers are hidden by the medical establishment”), and willingness to discourage others from vaccinating (69% of regretful vs. 4% of non-regretful respondents).  </a:t>
            </a:r>
          </a:p>
          <a:p>
            <a:r>
              <a:rPr lang="en-US" dirty="0"/>
              <a:t>- **Mandated vaccination** was associated with higher regret (VRI score 3.34 vs. 1.68 for voluntary recipients), though this effect was partially explained by preexisting hesitancy.  </a:t>
            </a:r>
          </a:p>
          <a:p>
            <a:r>
              <a:rPr lang="en-US" dirty="0"/>
              <a:t>- **Seasonal influenza vaccination** was also linked to regret: regretful individuals were significantly less likely to have received a flu shot in the prior 12 months (38% vs. 62% of non-regretful respondents). This suggests that **post-COVID vaccine regret may spill over into hesitancy for other vaccines**, including influenza.  </a:t>
            </a:r>
          </a:p>
          <a:p>
            <a:r>
              <a:rPr lang="en-US" dirty="0"/>
              <a:t>- The study highlights the **social contagion risk** of regret, as individuals with high regret may discourage others from vaccinating, potentially undermining public health campaigns.  </a:t>
            </a:r>
          </a:p>
          <a:p>
            <a:endParaRPr lang="en-US" dirty="0"/>
          </a:p>
          <a:p>
            <a:r>
              <a:rPr lang="en-US" dirty="0"/>
              <a:t>**Methods**:  </a:t>
            </a:r>
          </a:p>
          <a:p>
            <a:r>
              <a:rPr lang="en-US" dirty="0"/>
              <a:t>- **Survey Design**: Two national surveys (April 2024 and June–July 2024) used quota sampling to ensure demographic representativeness.  </a:t>
            </a:r>
          </a:p>
          <a:p>
            <a:r>
              <a:rPr lang="en-US" dirty="0"/>
              <a:t>- **Measures**: Vaccine regret was operationalized via a three-item Likert-scale index (Cronbach’s </a:t>
            </a:r>
            <a:r>
              <a:rPr lang="el-GR" dirty="0"/>
              <a:t>α = 0.84–0.86). </a:t>
            </a:r>
            <a:r>
              <a:rPr lang="en-US" dirty="0"/>
              <a:t>Correlates included political attitudes, conspiracy beliefs, and health behaviors.  </a:t>
            </a:r>
          </a:p>
          <a:p>
            <a:r>
              <a:rPr lang="en-US" dirty="0"/>
              <a:t>- **Analysis**: Multivariable regression and t-tests assessed associations between regret and outcomes, controlling for demographics.  </a:t>
            </a:r>
          </a:p>
          <a:p>
            <a:endParaRPr lang="en-US" dirty="0"/>
          </a:p>
          <a:p>
            <a:r>
              <a:rPr lang="en-US" dirty="0"/>
              <a:t>**Conclusion**:  </a:t>
            </a:r>
          </a:p>
          <a:p>
            <a:r>
              <a:rPr lang="en-US" dirty="0"/>
              <a:t>Vaccine regret is a significant predictor of **future hesitancy**, including for influenza vaccines. Public health strategies must address regret among both vaccinated and unvaccinated populations to mitigate its spread. The study underscores the need to avoid using vaccination status as a proxy for hesitancy, as regret may deter future immunization.  </a:t>
            </a:r>
          </a:p>
          <a:p>
            <a:endParaRPr lang="en-US" dirty="0"/>
          </a:p>
          <a:p>
            <a:r>
              <a:rPr lang="en-US" dirty="0"/>
              <a:t>**References**:  </a:t>
            </a:r>
          </a:p>
          <a:p>
            <a:r>
              <a:rPr lang="en-US" dirty="0"/>
              <a:t>1. Tyson, A., &amp; Pasquini, G. (2024). *60% of Americans say they probably won’t get an updated COVID-19 vaccine*. Pew Research Center.  </a:t>
            </a:r>
          </a:p>
          <a:p>
            <a:r>
              <a:rPr lang="en-US" dirty="0"/>
              <a:t>2. </a:t>
            </a:r>
            <a:r>
              <a:rPr lang="en-US" dirty="0" err="1"/>
              <a:t>Chenchula</a:t>
            </a:r>
            <a:r>
              <a:rPr lang="en-US" dirty="0"/>
              <a:t>, S., et al. (2024). *Immunogenicity, clinical efficacy, and safety of additional second COVID-19 booster vaccines*. Reviews in Medical Virology.  </a:t>
            </a:r>
          </a:p>
          <a:p>
            <a:r>
              <a:rPr lang="en-US" dirty="0"/>
              <a:t>3. Ali, S. T., et al. (2022). *Prediction of upcoming global infection burden of influenza seasons*. Lancet Glob Health.  </a:t>
            </a:r>
          </a:p>
          <a:p>
            <a:r>
              <a:rPr lang="en-US" dirty="0"/>
              <a:t>4. Bussink-</a:t>
            </a:r>
            <a:r>
              <a:rPr lang="en-US" dirty="0" err="1"/>
              <a:t>Voorend</a:t>
            </a:r>
            <a:r>
              <a:rPr lang="en-US" dirty="0"/>
              <a:t>, D., et al. (2022). *A systematic literature review to clarify the concept of vaccine hesitancy*. Nat Hum </a:t>
            </a:r>
            <a:r>
              <a:rPr lang="en-US" dirty="0" err="1"/>
              <a:t>Behav</a:t>
            </a:r>
            <a:r>
              <a:rPr lang="en-US" dirty="0"/>
              <a:t>.  </a:t>
            </a:r>
          </a:p>
          <a:p>
            <a:r>
              <a:rPr lang="en-US" dirty="0"/>
              <a:t>5. Larson, H. J. (2022). *Defining and measuring vaccine hesitancy*. Nat Hum </a:t>
            </a:r>
            <a:r>
              <a:rPr lang="en-US" dirty="0" err="1"/>
              <a:t>Behav</a:t>
            </a:r>
            <a:r>
              <a:rPr lang="en-US" dirty="0"/>
              <a:t>.  </a:t>
            </a:r>
          </a:p>
          <a:p>
            <a:r>
              <a:rPr lang="en-US" dirty="0"/>
              <a:t>6. Reddinger, J. L., Levine, D., &amp; </a:t>
            </a:r>
            <a:r>
              <a:rPr lang="en-US" dirty="0" err="1"/>
              <a:t>Charness</a:t>
            </a:r>
            <a:r>
              <a:rPr lang="en-US" dirty="0"/>
              <a:t>, G. (2022). *Can targeted messages reduce COVID-19 vaccination hesitancy?* Prev Med Rep.  </a:t>
            </a:r>
          </a:p>
          <a:p>
            <a:r>
              <a:rPr lang="en-US" dirty="0"/>
              <a:t>7. Dorn, S., &amp; Pastis, S. (2025). *RFK Jr.’s Conspiracy Theories: Here’s What Trump’s Pick for Health Secretary Has Promoted*. Forbes.  </a:t>
            </a:r>
          </a:p>
          <a:p>
            <a:endParaRPr lang="en-US" dirty="0"/>
          </a:p>
          <a:p>
            <a:r>
              <a:rPr lang="en-US" dirty="0"/>
              <a:t>This summary synthesizes the paper’s focus on vaccine regret’s role in shaping future hesitancy, including its potential impact on influenza </a:t>
            </a:r>
            <a:r>
              <a:rPr lang="en-US" dirty="0" err="1"/>
              <a:t>campaigns.Thought</a:t>
            </a:r>
            <a:r>
              <a:rPr lang="en-US" dirty="0"/>
              <a:t>: I have enough evidence to answer  </a:t>
            </a:r>
          </a:p>
          <a:p>
            <a:r>
              <a:rPr lang="en-US" dirty="0"/>
              <a:t>Final Answer: Research indicates that vaccine regret following COVID-19 vaccination is associated with reduced intentions for future influenza vaccinations. A study analyzing U.S. survey data found that 15% of vaccinated individuals reported regret, which correlated with lower seasonal influenza vaccination rates (38% vs. 62% of non-regretful respondents). Regret was also linked to anti-vaccine attitudes, conspiracy beliefs, and distrust in public health institutions, suggesting a "spill-over" effect where COVID-19 hesitancy may undermine influenza campaign participation. Public health strategies must address regret to mitigate its impact on vaccine uptake.  </a:t>
            </a:r>
          </a:p>
          <a:p>
            <a:endParaRPr lang="en-US" dirty="0"/>
          </a:p>
          <a:p>
            <a:r>
              <a:rPr lang="en-US" dirty="0"/>
              <a:t>**References**:  </a:t>
            </a:r>
          </a:p>
          <a:p>
            <a:r>
              <a:rPr lang="en-US" dirty="0"/>
              <a:t>1. Bayar MC, Artman H, Enders A, et al. *Correlates of COVID-19 Vaccine Regret in the United States*. 2026.  </a:t>
            </a:r>
          </a:p>
          <a:p>
            <a:r>
              <a:rPr lang="en-US" dirty="0"/>
              <a:t>2. Tyson, A., &amp; Pasquini, G. *60% of Americans say they probably won’t get an updated COVID-19 vaccine*. Pew Research Center, 2024.  </a:t>
            </a:r>
          </a:p>
          <a:p>
            <a:r>
              <a:rPr lang="en-US" dirty="0"/>
              <a:t>3. </a:t>
            </a:r>
            <a:r>
              <a:rPr lang="en-US" dirty="0" err="1"/>
              <a:t>Chenchula</a:t>
            </a:r>
            <a:r>
              <a:rPr lang="en-US" dirty="0"/>
              <a:t>, S., et al. *Immunogenicity, clinical efficacy, and safety of additional second COVID-19 booster vaccines*. Reviews in Medical Virology, 2024.  </a:t>
            </a:r>
          </a:p>
          <a:p>
            <a:r>
              <a:rPr lang="en-US" dirty="0"/>
              <a:t>4. Ali, S. T., et al. *Prediction of upcoming global infection burden of influenza seasons*. Lancet Glob Health, 2022.  </a:t>
            </a:r>
          </a:p>
          <a:p>
            <a:r>
              <a:rPr lang="en-US" dirty="0"/>
              <a:t>5. Bussink-</a:t>
            </a:r>
            <a:r>
              <a:rPr lang="en-US" dirty="0" err="1"/>
              <a:t>Voorend</a:t>
            </a:r>
            <a:r>
              <a:rPr lang="en-US" dirty="0"/>
              <a:t>, D., et al. *A systematic literature review to clarify the concept of vaccine hesitancy*. Nat Hum </a:t>
            </a:r>
            <a:r>
              <a:rPr lang="en-US" dirty="0" err="1"/>
              <a:t>Behav</a:t>
            </a:r>
            <a:r>
              <a:rPr lang="en-US" dirty="0"/>
              <a:t>, 2022.  </a:t>
            </a:r>
          </a:p>
          <a:p>
            <a:r>
              <a:rPr lang="en-US" dirty="0"/>
              <a:t>6. Larson, H. J. *Defining and measuring vaccine hesitancy*. Nat Hum </a:t>
            </a:r>
            <a:r>
              <a:rPr lang="en-US" dirty="0" err="1"/>
              <a:t>Behav</a:t>
            </a:r>
            <a:r>
              <a:rPr lang="en-US" dirty="0"/>
              <a:t>, 2022.  </a:t>
            </a:r>
          </a:p>
          <a:p>
            <a:r>
              <a:rPr lang="en-US" dirty="0"/>
              <a:t>7. Dorn, S., &amp; Pastis, S. *RFK Jr.’s Conspiracy Theories: Here’s What Trump’s Pick for Health Secretary Has Promoted*. Forbes, 2025.  </a:t>
            </a:r>
          </a:p>
          <a:p>
            <a:endParaRPr lang="en-US" dirty="0"/>
          </a:p>
          <a:p>
            <a:r>
              <a:rPr lang="en-US" dirty="0"/>
              <a:t>[PDF generated via `</a:t>
            </a:r>
            <a:r>
              <a:rPr lang="en-US" dirty="0" err="1"/>
              <a:t>summarize_research</a:t>
            </a:r>
            <a:r>
              <a:rPr lang="en-US" dirty="0"/>
              <a:t>` tool]</a:t>
            </a:r>
          </a:p>
          <a:p>
            <a:endParaRPr lang="en-US" dirty="0"/>
          </a:p>
          <a:p>
            <a:r>
              <a:rPr lang="en-US" dirty="0"/>
              <a:t>&gt; Finished chain.</a:t>
            </a:r>
          </a:p>
        </p:txBody>
      </p:sp>
    </p:spTree>
    <p:extLst>
      <p:ext uri="{BB962C8B-B14F-4D97-AF65-F5344CB8AC3E}">
        <p14:creationId xmlns:p14="http://schemas.microsoft.com/office/powerpoint/2010/main" val="183748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BEB7-3A31-5123-6580-F95EFF79B25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134C28E-1200-CF5E-60F2-8268D1E330B2}"/>
              </a:ext>
            </a:extLst>
          </p:cNvPr>
          <p:cNvPicPr>
            <a:picLocks noChangeAspect="1"/>
          </p:cNvPicPr>
          <p:nvPr/>
        </p:nvPicPr>
        <p:blipFill>
          <a:blip r:embed="rId2"/>
          <a:stretch>
            <a:fillRect/>
          </a:stretch>
        </p:blipFill>
        <p:spPr>
          <a:xfrm>
            <a:off x="2209800" y="1116104"/>
            <a:ext cx="7772400" cy="795195"/>
          </a:xfrm>
          <a:prstGeom prst="rect">
            <a:avLst/>
          </a:prstGeom>
        </p:spPr>
      </p:pic>
      <p:sp>
        <p:nvSpPr>
          <p:cNvPr id="4" name="TextBox 3">
            <a:extLst>
              <a:ext uri="{FF2B5EF4-FFF2-40B4-BE49-F238E27FC236}">
                <a16:creationId xmlns:a16="http://schemas.microsoft.com/office/drawing/2014/main" id="{D6CA14BB-2F05-8A1D-68A4-09DF80F5B7B5}"/>
              </a:ext>
            </a:extLst>
          </p:cNvPr>
          <p:cNvSpPr txBox="1"/>
          <p:nvPr/>
        </p:nvSpPr>
        <p:spPr>
          <a:xfrm>
            <a:off x="815546" y="2166203"/>
            <a:ext cx="10738022" cy="400110"/>
          </a:xfrm>
          <a:prstGeom prst="rect">
            <a:avLst/>
          </a:prstGeom>
          <a:noFill/>
        </p:spPr>
        <p:txBody>
          <a:bodyPr wrap="square">
            <a:spAutoFit/>
          </a:bodyPr>
          <a:lstStyle/>
          <a:p>
            <a:r>
              <a:rPr lang="en-US" sz="1000" dirty="0"/>
              <a:t>[</a:t>
            </a:r>
            <a:r>
              <a:rPr lang="en-US" sz="1000" dirty="0" err="1"/>
              <a:t>PyPaperRetriever</a:t>
            </a:r>
            <a:r>
              <a:rPr lang="en-US" sz="1000" dirty="0"/>
              <a:t>] PDF downloaded successfully to /Users/</a:t>
            </a:r>
            <a:r>
              <a:rPr lang="en-US" sz="1000" dirty="0" err="1"/>
              <a:t>micktwohig</a:t>
            </a:r>
            <a:r>
              <a:rPr lang="en-US" sz="1000" dirty="0"/>
              <a:t>/Library/</a:t>
            </a:r>
            <a:r>
              <a:rPr lang="en-US" sz="1000" dirty="0" err="1"/>
              <a:t>CloudStorage</a:t>
            </a:r>
            <a:r>
              <a:rPr lang="en-US" sz="1000" dirty="0"/>
              <a:t>/Dropbox/Stevens/810WZ/BIA810-Special-topics-in-gen-AI/</a:t>
            </a:r>
            <a:r>
              <a:rPr lang="en-US" sz="1000" dirty="0" err="1"/>
              <a:t>src</a:t>
            </a:r>
            <a:r>
              <a:rPr lang="en-US" sz="1000" dirty="0"/>
              <a:t>/PDF/2026-04-14-20_29_31_G7WDP31R.pdf for 10.1007/s11606-026-10374-x from https://</a:t>
            </a:r>
            <a:r>
              <a:rPr lang="en-US" sz="1000" dirty="0" err="1"/>
              <a:t>link.springer.com</a:t>
            </a:r>
            <a:r>
              <a:rPr lang="en-US" sz="1000" dirty="0"/>
              <a:t>/content/pdf/10.1007/s11606-026-10374-x.pdf</a:t>
            </a:r>
          </a:p>
        </p:txBody>
      </p:sp>
    </p:spTree>
    <p:extLst>
      <p:ext uri="{BB962C8B-B14F-4D97-AF65-F5344CB8AC3E}">
        <p14:creationId xmlns:p14="http://schemas.microsoft.com/office/powerpoint/2010/main" val="195831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4AF6F-AB8B-0A9F-4819-B4D9BE3310B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11898C3-A603-BC62-CBBC-677BF52725C9}"/>
              </a:ext>
            </a:extLst>
          </p:cNvPr>
          <p:cNvPicPr>
            <a:picLocks noChangeAspect="1"/>
          </p:cNvPicPr>
          <p:nvPr/>
        </p:nvPicPr>
        <p:blipFill>
          <a:blip r:embed="rId2"/>
          <a:stretch>
            <a:fillRect/>
          </a:stretch>
        </p:blipFill>
        <p:spPr>
          <a:xfrm>
            <a:off x="3009900" y="2120900"/>
            <a:ext cx="6172200" cy="2616200"/>
          </a:xfrm>
          <a:prstGeom prst="rect">
            <a:avLst/>
          </a:prstGeom>
        </p:spPr>
      </p:pic>
    </p:spTree>
    <p:extLst>
      <p:ext uri="{BB962C8B-B14F-4D97-AF65-F5344CB8AC3E}">
        <p14:creationId xmlns:p14="http://schemas.microsoft.com/office/powerpoint/2010/main" val="1637423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7DC7D-755C-1082-191A-1C8C32E4D1D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723FB27-692D-3AA8-D1AD-B53A92646D17}"/>
              </a:ext>
            </a:extLst>
          </p:cNvPr>
          <p:cNvPicPr>
            <a:picLocks noChangeAspect="1"/>
          </p:cNvPicPr>
          <p:nvPr/>
        </p:nvPicPr>
        <p:blipFill>
          <a:blip r:embed="rId2"/>
          <a:stretch>
            <a:fillRect/>
          </a:stretch>
        </p:blipFill>
        <p:spPr>
          <a:xfrm>
            <a:off x="2209800" y="500666"/>
            <a:ext cx="7772400" cy="5856667"/>
          </a:xfrm>
          <a:prstGeom prst="rect">
            <a:avLst/>
          </a:prstGeom>
        </p:spPr>
      </p:pic>
    </p:spTree>
    <p:extLst>
      <p:ext uri="{BB962C8B-B14F-4D97-AF65-F5344CB8AC3E}">
        <p14:creationId xmlns:p14="http://schemas.microsoft.com/office/powerpoint/2010/main" val="2789187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077B0-E50D-1B9A-7CA3-EDCFB4E4E5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244CCF5-DFC9-1647-1C26-433FE010CC14}"/>
              </a:ext>
            </a:extLst>
          </p:cNvPr>
          <p:cNvPicPr>
            <a:picLocks noChangeAspect="1"/>
          </p:cNvPicPr>
          <p:nvPr/>
        </p:nvPicPr>
        <p:blipFill>
          <a:blip r:embed="rId2"/>
          <a:stretch>
            <a:fillRect/>
          </a:stretch>
        </p:blipFill>
        <p:spPr>
          <a:xfrm>
            <a:off x="1517821" y="725965"/>
            <a:ext cx="7772400" cy="2860577"/>
          </a:xfrm>
          <a:prstGeom prst="rect">
            <a:avLst/>
          </a:prstGeom>
        </p:spPr>
      </p:pic>
      <p:pic>
        <p:nvPicPr>
          <p:cNvPr id="3" name="Picture 2">
            <a:extLst>
              <a:ext uri="{FF2B5EF4-FFF2-40B4-BE49-F238E27FC236}">
                <a16:creationId xmlns:a16="http://schemas.microsoft.com/office/drawing/2014/main" id="{E1851D05-8A1A-4E20-180B-62094D54CF8D}"/>
              </a:ext>
            </a:extLst>
          </p:cNvPr>
          <p:cNvPicPr>
            <a:picLocks noChangeAspect="1"/>
          </p:cNvPicPr>
          <p:nvPr/>
        </p:nvPicPr>
        <p:blipFill>
          <a:blip r:embed="rId3"/>
          <a:stretch>
            <a:fillRect/>
          </a:stretch>
        </p:blipFill>
        <p:spPr>
          <a:xfrm>
            <a:off x="1517821" y="3508407"/>
            <a:ext cx="7772400" cy="1333725"/>
          </a:xfrm>
          <a:prstGeom prst="rect">
            <a:avLst/>
          </a:prstGeom>
        </p:spPr>
      </p:pic>
    </p:spTree>
    <p:extLst>
      <p:ext uri="{BB962C8B-B14F-4D97-AF65-F5344CB8AC3E}">
        <p14:creationId xmlns:p14="http://schemas.microsoft.com/office/powerpoint/2010/main" val="1514391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FA377-0B6A-0A17-D61C-2A52714AB383}"/>
            </a:ext>
          </a:extLst>
        </p:cNvPr>
        <p:cNvGrpSpPr/>
        <p:nvPr/>
      </p:nvGrpSpPr>
      <p:grpSpPr>
        <a:xfrm>
          <a:off x="0" y="0"/>
          <a:ext cx="0" cy="0"/>
          <a:chOff x="0" y="0"/>
          <a:chExt cx="0" cy="0"/>
        </a:xfrm>
      </p:grpSpPr>
    </p:spTree>
    <p:extLst>
      <p:ext uri="{BB962C8B-B14F-4D97-AF65-F5344CB8AC3E}">
        <p14:creationId xmlns:p14="http://schemas.microsoft.com/office/powerpoint/2010/main" val="193725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D4E9-9256-D418-44F7-90E5DC8982F3}"/>
            </a:ext>
          </a:extLst>
        </p:cNvPr>
        <p:cNvGrpSpPr/>
        <p:nvPr/>
      </p:nvGrpSpPr>
      <p:grpSpPr>
        <a:xfrm>
          <a:off x="0" y="0"/>
          <a:ext cx="0" cy="0"/>
          <a:chOff x="0" y="0"/>
          <a:chExt cx="0" cy="0"/>
        </a:xfrm>
      </p:grpSpPr>
    </p:spTree>
    <p:extLst>
      <p:ext uri="{BB962C8B-B14F-4D97-AF65-F5344CB8AC3E}">
        <p14:creationId xmlns:p14="http://schemas.microsoft.com/office/powerpoint/2010/main" val="18655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7F1A8-D75C-E27E-C5FB-98EE1C87BA10}"/>
            </a:ext>
          </a:extLst>
        </p:cNvPr>
        <p:cNvGrpSpPr/>
        <p:nvPr/>
      </p:nvGrpSpPr>
      <p:grpSpPr>
        <a:xfrm>
          <a:off x="0" y="0"/>
          <a:ext cx="0" cy="0"/>
          <a:chOff x="0" y="0"/>
          <a:chExt cx="0" cy="0"/>
        </a:xfrm>
      </p:grpSpPr>
    </p:spTree>
    <p:extLst>
      <p:ext uri="{BB962C8B-B14F-4D97-AF65-F5344CB8AC3E}">
        <p14:creationId xmlns:p14="http://schemas.microsoft.com/office/powerpoint/2010/main" val="1423239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8B8D1-DAA6-FFCB-7452-0853D62BDCA6}"/>
            </a:ext>
          </a:extLst>
        </p:cNvPr>
        <p:cNvGrpSpPr/>
        <p:nvPr/>
      </p:nvGrpSpPr>
      <p:grpSpPr>
        <a:xfrm>
          <a:off x="0" y="0"/>
          <a:ext cx="0" cy="0"/>
          <a:chOff x="0" y="0"/>
          <a:chExt cx="0" cy="0"/>
        </a:xfrm>
      </p:grpSpPr>
    </p:spTree>
    <p:extLst>
      <p:ext uri="{BB962C8B-B14F-4D97-AF65-F5344CB8AC3E}">
        <p14:creationId xmlns:p14="http://schemas.microsoft.com/office/powerpoint/2010/main" val="232315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E7393-8CAB-FE73-2B9C-960301E73EB6}"/>
            </a:ext>
          </a:extLst>
        </p:cNvPr>
        <p:cNvGrpSpPr/>
        <p:nvPr/>
      </p:nvGrpSpPr>
      <p:grpSpPr>
        <a:xfrm>
          <a:off x="0" y="0"/>
          <a:ext cx="0" cy="0"/>
          <a:chOff x="0" y="0"/>
          <a:chExt cx="0" cy="0"/>
        </a:xfrm>
      </p:grpSpPr>
    </p:spTree>
    <p:extLst>
      <p:ext uri="{BB962C8B-B14F-4D97-AF65-F5344CB8AC3E}">
        <p14:creationId xmlns:p14="http://schemas.microsoft.com/office/powerpoint/2010/main" val="187929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773</TotalTime>
  <Words>1595</Words>
  <Application>Microsoft Macintosh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Mick Twohig</dc:creator>
  <cp:lastModifiedBy>Mick Twohig</cp:lastModifiedBy>
  <cp:revision>2</cp:revision>
  <dcterms:created xsi:type="dcterms:W3CDTF">2026-04-15T00:36:22Z</dcterms:created>
  <dcterms:modified xsi:type="dcterms:W3CDTF">2026-04-15T13:29:57Z</dcterms:modified>
</cp:coreProperties>
</file>